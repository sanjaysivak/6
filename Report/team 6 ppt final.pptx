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7" r:id="rId7"/>
    <p:sldId id="268" r:id="rId8"/>
    <p:sldId id="270" r:id="rId9"/>
    <p:sldId id="269" r:id="rId10"/>
    <p:sldId id="271" r:id="rId11"/>
    <p:sldId id="264" r:id="rId12"/>
    <p:sldId id="272" r:id="rId13"/>
    <p:sldId id="265" r:id="rId14"/>
    <p:sldId id="274" r:id="rId15"/>
    <p:sldId id="275" r:id="rId16"/>
    <p:sldId id="276" r:id="rId17"/>
    <p:sldId id="277" r:id="rId18"/>
    <p:sldId id="266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876" y="-2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65759"/>
            <a:ext cx="12192000" cy="1324610"/>
          </a:xfrm>
          <a:custGeom>
            <a:avLst/>
            <a:gdLst/>
            <a:ahLst/>
            <a:cxnLst/>
            <a:rect l="l" t="t" r="r" b="b"/>
            <a:pathLst>
              <a:path w="12192000" h="1324610">
                <a:moveTo>
                  <a:pt x="12192000" y="0"/>
                </a:moveTo>
                <a:lnTo>
                  <a:pt x="0" y="0"/>
                </a:lnTo>
                <a:lnTo>
                  <a:pt x="0" y="1324356"/>
                </a:lnTo>
                <a:lnTo>
                  <a:pt x="12192000" y="132435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7420" y="606628"/>
            <a:ext cx="6217158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705226"/>
            <a:ext cx="10363199" cy="2952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3767" y="435863"/>
            <a:ext cx="8284464" cy="144322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0792" y="2215800"/>
            <a:ext cx="7307608" cy="10944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44366" y="2452349"/>
            <a:ext cx="6885433" cy="62132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57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45"/>
              </a:spcBef>
            </a:pPr>
            <a:r>
              <a:rPr sz="4000" spc="-320" dirty="0">
                <a:solidFill>
                  <a:srgbClr val="92D050"/>
                </a:solidFill>
              </a:rPr>
              <a:t>CAPSTONE</a:t>
            </a:r>
            <a:r>
              <a:rPr sz="4000" spc="-625" dirty="0">
                <a:solidFill>
                  <a:srgbClr val="92D050"/>
                </a:solidFill>
              </a:rPr>
              <a:t> </a:t>
            </a:r>
            <a:r>
              <a:rPr lang="en-US" sz="4000" spc="-625" dirty="0" smtClean="0">
                <a:solidFill>
                  <a:srgbClr val="92D050"/>
                </a:solidFill>
              </a:rPr>
              <a:t> </a:t>
            </a:r>
            <a:r>
              <a:rPr lang="en-US" sz="4000" spc="-625" dirty="0" smtClean="0">
                <a:solidFill>
                  <a:srgbClr val="92D050"/>
                </a:solidFill>
              </a:rPr>
              <a:t>FINAL  </a:t>
            </a:r>
            <a:r>
              <a:rPr sz="4000" spc="-300" dirty="0" smtClean="0">
                <a:solidFill>
                  <a:srgbClr val="92D050"/>
                </a:solidFill>
              </a:rPr>
              <a:t>REVIEW</a:t>
            </a:r>
            <a:r>
              <a:rPr sz="4000" spc="50" dirty="0" smtClean="0">
                <a:solidFill>
                  <a:srgbClr val="92D050"/>
                </a:solidFill>
              </a:rPr>
              <a:t> </a:t>
            </a:r>
            <a:endParaRPr sz="4000" dirty="0">
              <a:solidFill>
                <a:srgbClr val="92D050"/>
              </a:solidFill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9088" y="5364479"/>
            <a:ext cx="5558155" cy="1062355"/>
          </a:xfrm>
          <a:custGeom>
            <a:avLst/>
            <a:gdLst/>
            <a:ahLst/>
            <a:cxnLst/>
            <a:rect l="l" t="t" r="r" b="b"/>
            <a:pathLst>
              <a:path w="5558155" h="1062354">
                <a:moveTo>
                  <a:pt x="0" y="177038"/>
                </a:moveTo>
                <a:lnTo>
                  <a:pt x="6322" y="129969"/>
                </a:lnTo>
                <a:lnTo>
                  <a:pt x="24167" y="87677"/>
                </a:lnTo>
                <a:lnTo>
                  <a:pt x="51847" y="51847"/>
                </a:lnTo>
                <a:lnTo>
                  <a:pt x="87677" y="24167"/>
                </a:lnTo>
                <a:lnTo>
                  <a:pt x="129969" y="6322"/>
                </a:lnTo>
                <a:lnTo>
                  <a:pt x="177037" y="0"/>
                </a:lnTo>
                <a:lnTo>
                  <a:pt x="5380990" y="0"/>
                </a:lnTo>
                <a:lnTo>
                  <a:pt x="5428058" y="6322"/>
                </a:lnTo>
                <a:lnTo>
                  <a:pt x="5470350" y="24167"/>
                </a:lnTo>
                <a:lnTo>
                  <a:pt x="5506180" y="51847"/>
                </a:lnTo>
                <a:lnTo>
                  <a:pt x="5533860" y="87677"/>
                </a:lnTo>
                <a:lnTo>
                  <a:pt x="5551705" y="129969"/>
                </a:lnTo>
                <a:lnTo>
                  <a:pt x="5558028" y="177038"/>
                </a:lnTo>
                <a:lnTo>
                  <a:pt x="5558028" y="885177"/>
                </a:lnTo>
                <a:lnTo>
                  <a:pt x="5551705" y="932247"/>
                </a:lnTo>
                <a:lnTo>
                  <a:pt x="5533860" y="974541"/>
                </a:lnTo>
                <a:lnTo>
                  <a:pt x="5506180" y="1010373"/>
                </a:lnTo>
                <a:lnTo>
                  <a:pt x="5470350" y="1038057"/>
                </a:lnTo>
                <a:lnTo>
                  <a:pt x="5428058" y="1055904"/>
                </a:lnTo>
                <a:lnTo>
                  <a:pt x="5380990" y="1062228"/>
                </a:lnTo>
                <a:lnTo>
                  <a:pt x="177037" y="1062228"/>
                </a:lnTo>
                <a:lnTo>
                  <a:pt x="129969" y="1055904"/>
                </a:lnTo>
                <a:lnTo>
                  <a:pt x="87677" y="1038057"/>
                </a:lnTo>
                <a:lnTo>
                  <a:pt x="51847" y="1010373"/>
                </a:lnTo>
                <a:lnTo>
                  <a:pt x="24167" y="974541"/>
                </a:lnTo>
                <a:lnTo>
                  <a:pt x="6322" y="932247"/>
                </a:lnTo>
                <a:lnTo>
                  <a:pt x="0" y="885177"/>
                </a:lnTo>
                <a:lnTo>
                  <a:pt x="0" y="177038"/>
                </a:lnTo>
                <a:close/>
              </a:path>
            </a:pathLst>
          </a:custGeom>
          <a:ln w="12192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4088" y="3290822"/>
            <a:ext cx="11430000" cy="2894382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39264" marR="567055" indent="-1727200">
              <a:lnSpc>
                <a:spcPts val="5600"/>
              </a:lnSpc>
              <a:spcBef>
                <a:spcPts val="70"/>
              </a:spcBef>
            </a:pPr>
            <a:r>
              <a:rPr lang="en-US" sz="4450" spc="-90" dirty="0" err="1" smtClean="0">
                <a:solidFill>
                  <a:srgbClr val="214435"/>
                </a:solidFill>
                <a:latin typeface="Arial Black"/>
                <a:cs typeface="Arial Black"/>
              </a:rPr>
              <a:t>FloodGuard</a:t>
            </a:r>
            <a:r>
              <a:rPr lang="en-US" sz="4450" spc="-90" dirty="0" smtClean="0">
                <a:solidFill>
                  <a:srgbClr val="214435"/>
                </a:solidFill>
                <a:latin typeface="Arial Black"/>
                <a:cs typeface="Arial Black"/>
              </a:rPr>
              <a:t> AI: Early Warning and Smart Resource Allocation for Urban Floods</a:t>
            </a:r>
          </a:p>
          <a:p>
            <a:pPr marL="1739264" marR="567055" indent="-1727200">
              <a:lnSpc>
                <a:spcPts val="5600"/>
              </a:lnSpc>
              <a:spcBef>
                <a:spcPts val="70"/>
              </a:spcBef>
            </a:pPr>
            <a:r>
              <a:rPr lang="en-US" sz="4450" dirty="0" smtClean="0">
                <a:latin typeface="Arial Black"/>
                <a:cs typeface="Arial Black"/>
              </a:rPr>
              <a:t>                               </a:t>
            </a:r>
            <a:r>
              <a:rPr lang="en-US" sz="2400" dirty="0" smtClean="0">
                <a:latin typeface="Arial Black"/>
                <a:cs typeface="Arial Black"/>
              </a:rPr>
              <a:t>guided by: Dr. </a:t>
            </a:r>
            <a:r>
              <a:rPr lang="en-US" sz="2400" dirty="0" err="1" smtClean="0">
                <a:latin typeface="Arial Black"/>
                <a:cs typeface="Arial Black"/>
              </a:rPr>
              <a:t>M.K.Nagarajan</a:t>
            </a:r>
            <a:endParaRPr sz="2400" dirty="0" smtClean="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50395"/>
            <a:ext cx="12192000" cy="1713230"/>
            <a:chOff x="0" y="350395"/>
            <a:chExt cx="12192000" cy="17132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50395"/>
              <a:ext cx="12192000" cy="17132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44068"/>
              <a:ext cx="12192000" cy="1325880"/>
            </a:xfrm>
            <a:custGeom>
              <a:avLst/>
              <a:gdLst/>
              <a:ahLst/>
              <a:cxnLst/>
              <a:rect l="l" t="t" r="r" b="b"/>
              <a:pathLst>
                <a:path w="12192000" h="1325880">
                  <a:moveTo>
                    <a:pt x="12192000" y="0"/>
                  </a:moveTo>
                  <a:lnTo>
                    <a:pt x="0" y="0"/>
                  </a:lnTo>
                  <a:lnTo>
                    <a:pt x="0" y="1325879"/>
                  </a:lnTo>
                  <a:lnTo>
                    <a:pt x="12192000" y="132587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830573" y="786511"/>
            <a:ext cx="4533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15" dirty="0"/>
              <a:t>TEAM</a:t>
            </a:r>
            <a:r>
              <a:rPr spc="-715" dirty="0"/>
              <a:t> </a:t>
            </a:r>
            <a:r>
              <a:rPr spc="-400" dirty="0"/>
              <a:t>MEMBERS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08328" y="2553804"/>
            <a:ext cx="9587230" cy="25095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508000" indent="-495300">
              <a:lnSpc>
                <a:spcPct val="100000"/>
              </a:lnSpc>
              <a:spcBef>
                <a:spcPts val="665"/>
              </a:spcBef>
              <a:buFont typeface="Wingdings"/>
              <a:buChar char=""/>
              <a:tabLst>
                <a:tab pos="508000" algn="l"/>
              </a:tabLst>
            </a:pPr>
            <a:r>
              <a:rPr lang="en-US" sz="3600" spc="-280" dirty="0" smtClean="0">
                <a:latin typeface="Arial Black"/>
                <a:cs typeface="Arial Black"/>
              </a:rPr>
              <a:t>S SANJAY KUMAR</a:t>
            </a:r>
            <a:r>
              <a:rPr sz="3600" spc="-520" dirty="0" smtClean="0">
                <a:latin typeface="Arial Black"/>
                <a:cs typeface="Arial Black"/>
              </a:rPr>
              <a:t> </a:t>
            </a:r>
            <a:r>
              <a:rPr sz="3600" spc="665" dirty="0">
                <a:latin typeface="Arial Black"/>
                <a:cs typeface="Arial Black"/>
              </a:rPr>
              <a:t>–</a:t>
            </a:r>
            <a:r>
              <a:rPr sz="3600" spc="-520" dirty="0">
                <a:latin typeface="Arial Black"/>
                <a:cs typeface="Arial Black"/>
              </a:rPr>
              <a:t> </a:t>
            </a:r>
            <a:r>
              <a:rPr sz="3600" spc="-185" dirty="0" smtClean="0">
                <a:latin typeface="Arial Black"/>
                <a:cs typeface="Arial Black"/>
              </a:rPr>
              <a:t>9922004</a:t>
            </a:r>
            <a:r>
              <a:rPr lang="en-US" sz="3600" spc="-185" dirty="0" smtClean="0">
                <a:latin typeface="Arial Black"/>
                <a:cs typeface="Arial Black"/>
              </a:rPr>
              <a:t>0354</a:t>
            </a:r>
            <a:endParaRPr sz="3600" dirty="0">
              <a:latin typeface="Arial Black"/>
              <a:cs typeface="Arial Black"/>
            </a:endParaRPr>
          </a:p>
          <a:p>
            <a:pPr marL="507365" indent="-494665">
              <a:lnSpc>
                <a:spcPct val="100000"/>
              </a:lnSpc>
              <a:spcBef>
                <a:spcPts val="570"/>
              </a:spcBef>
              <a:buFont typeface="Wingdings"/>
              <a:buChar char=""/>
              <a:tabLst>
                <a:tab pos="507365" algn="l"/>
              </a:tabLst>
            </a:pPr>
            <a:r>
              <a:rPr lang="en-US" sz="3600" spc="-305" dirty="0" smtClean="0">
                <a:latin typeface="Arial Black"/>
                <a:cs typeface="Arial Black"/>
              </a:rPr>
              <a:t>P AKILAN</a:t>
            </a:r>
            <a:r>
              <a:rPr sz="3600" spc="-500" dirty="0" smtClean="0">
                <a:latin typeface="Arial Black"/>
                <a:cs typeface="Arial Black"/>
              </a:rPr>
              <a:t> </a:t>
            </a:r>
            <a:r>
              <a:rPr sz="3600" spc="665" dirty="0">
                <a:latin typeface="Arial Black"/>
                <a:cs typeface="Arial Black"/>
              </a:rPr>
              <a:t>–</a:t>
            </a:r>
            <a:r>
              <a:rPr sz="3600" spc="-509" dirty="0">
                <a:latin typeface="Arial Black"/>
                <a:cs typeface="Arial Black"/>
              </a:rPr>
              <a:t> </a:t>
            </a:r>
            <a:r>
              <a:rPr sz="3600" spc="-345" dirty="0" smtClean="0">
                <a:latin typeface="Arial Black"/>
                <a:cs typeface="Arial Black"/>
              </a:rPr>
              <a:t>9922004</a:t>
            </a:r>
            <a:r>
              <a:rPr lang="en-US" sz="3600" spc="-345" dirty="0" smtClean="0">
                <a:latin typeface="Arial Black"/>
                <a:cs typeface="Arial Black"/>
              </a:rPr>
              <a:t>0235</a:t>
            </a:r>
            <a:endParaRPr sz="3600" dirty="0">
              <a:latin typeface="Arial Black"/>
              <a:cs typeface="Arial Black"/>
            </a:endParaRPr>
          </a:p>
          <a:p>
            <a:pPr marL="508000" indent="-495300">
              <a:lnSpc>
                <a:spcPct val="100000"/>
              </a:lnSpc>
              <a:spcBef>
                <a:spcPts val="575"/>
              </a:spcBef>
              <a:buFont typeface="Wingdings"/>
              <a:buChar char=""/>
              <a:tabLst>
                <a:tab pos="508000" algn="l"/>
              </a:tabLst>
            </a:pPr>
            <a:r>
              <a:rPr lang="en-US" sz="3600" spc="-280" dirty="0" smtClean="0">
                <a:latin typeface="Arial Black"/>
                <a:cs typeface="Arial Black"/>
              </a:rPr>
              <a:t>P PANDI VEER VISWA</a:t>
            </a:r>
            <a:r>
              <a:rPr sz="3600" spc="-509" dirty="0" smtClean="0">
                <a:latin typeface="Arial Black"/>
                <a:cs typeface="Arial Black"/>
              </a:rPr>
              <a:t> </a:t>
            </a:r>
            <a:r>
              <a:rPr sz="3600" spc="665" dirty="0">
                <a:latin typeface="Arial Black"/>
                <a:cs typeface="Arial Black"/>
              </a:rPr>
              <a:t>–</a:t>
            </a:r>
            <a:r>
              <a:rPr sz="3600" spc="-505" dirty="0">
                <a:latin typeface="Arial Black"/>
                <a:cs typeface="Arial Black"/>
              </a:rPr>
              <a:t> </a:t>
            </a:r>
            <a:r>
              <a:rPr sz="3600" spc="-345" dirty="0" smtClean="0">
                <a:latin typeface="Arial Black"/>
                <a:cs typeface="Arial Black"/>
              </a:rPr>
              <a:t>9922004</a:t>
            </a:r>
            <a:r>
              <a:rPr lang="en-US" sz="3600" spc="-345" dirty="0" smtClean="0">
                <a:latin typeface="Arial Black"/>
                <a:cs typeface="Arial Black"/>
              </a:rPr>
              <a:t>0342</a:t>
            </a:r>
            <a:endParaRPr sz="3600" dirty="0">
              <a:latin typeface="Arial Black"/>
              <a:cs typeface="Arial Black"/>
            </a:endParaRPr>
          </a:p>
          <a:p>
            <a:pPr marL="507365" indent="-494665">
              <a:lnSpc>
                <a:spcPct val="100000"/>
              </a:lnSpc>
              <a:spcBef>
                <a:spcPts val="565"/>
              </a:spcBef>
              <a:buFont typeface="Wingdings"/>
              <a:buChar char=""/>
              <a:tabLst>
                <a:tab pos="507365" algn="l"/>
              </a:tabLst>
            </a:pPr>
            <a:r>
              <a:rPr lang="en-US" sz="3600" spc="-235" dirty="0" smtClean="0">
                <a:latin typeface="Arial Black"/>
                <a:cs typeface="Arial Black"/>
              </a:rPr>
              <a:t>M MIDHUN</a:t>
            </a:r>
            <a:r>
              <a:rPr sz="3600" spc="665" dirty="0" smtClean="0">
                <a:latin typeface="Arial Black"/>
                <a:cs typeface="Arial Black"/>
              </a:rPr>
              <a:t>–</a:t>
            </a:r>
            <a:r>
              <a:rPr sz="3600" spc="-495" dirty="0" smtClean="0">
                <a:latin typeface="Arial Black"/>
                <a:cs typeface="Arial Black"/>
              </a:rPr>
              <a:t> </a:t>
            </a:r>
            <a:r>
              <a:rPr sz="3600" spc="-285" dirty="0" smtClean="0">
                <a:latin typeface="Arial Black"/>
                <a:cs typeface="Arial Black"/>
              </a:rPr>
              <a:t>99220</a:t>
            </a:r>
            <a:r>
              <a:rPr lang="en-US" sz="3600" spc="-285" dirty="0" smtClean="0">
                <a:latin typeface="Arial Black"/>
                <a:cs typeface="Arial Black"/>
              </a:rPr>
              <a:t>040307</a:t>
            </a:r>
            <a:endParaRPr sz="3600" dirty="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72056"/>
            <a:ext cx="12192000" cy="1711960"/>
            <a:chOff x="0" y="172056"/>
            <a:chExt cx="12192000" cy="1711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2056"/>
              <a:ext cx="12192000" cy="17117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65760"/>
              <a:ext cx="12192000" cy="1324610"/>
            </a:xfrm>
            <a:custGeom>
              <a:avLst/>
              <a:gdLst/>
              <a:ahLst/>
              <a:cxnLst/>
              <a:rect l="l" t="t" r="r" b="b"/>
              <a:pathLst>
                <a:path w="12192000" h="1324610">
                  <a:moveTo>
                    <a:pt x="12192000" y="0"/>
                  </a:moveTo>
                  <a:lnTo>
                    <a:pt x="0" y="0"/>
                  </a:lnTo>
                  <a:lnTo>
                    <a:pt x="0" y="1324356"/>
                  </a:lnTo>
                  <a:lnTo>
                    <a:pt x="12192000" y="132435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PROBLEM</a:t>
            </a:r>
            <a:r>
              <a:rPr spc="-710" dirty="0"/>
              <a:t> </a:t>
            </a:r>
            <a:r>
              <a:rPr spc="-415" dirty="0"/>
              <a:t>STATEMENT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2115692"/>
            <a:ext cx="10026650" cy="434990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25730" indent="-228600">
              <a:spcBef>
                <a:spcPts val="4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-35" dirty="0" smtClean="0">
                <a:latin typeface="Tahoma"/>
                <a:cs typeface="Tahoma"/>
              </a:rPr>
              <a:t>Urban and river flooding causes severe damage to life and infrastructure.</a:t>
            </a:r>
          </a:p>
          <a:p>
            <a:pPr marL="241300" marR="365125" indent="-228600"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90" dirty="0" smtClean="0">
                <a:latin typeface="Tahoma"/>
                <a:cs typeface="Tahoma"/>
              </a:rPr>
              <a:t>Existing systems depend on limited meteorological data and provide delayed alerts.</a:t>
            </a:r>
            <a:endParaRPr lang="en-US" sz="2800" spc="90" dirty="0" smtClean="0">
              <a:latin typeface="Tahoma"/>
              <a:cs typeface="Tahoma"/>
            </a:endParaRPr>
          </a:p>
          <a:p>
            <a:pPr marL="241300" marR="365125" indent="-228600">
              <a:spcBef>
                <a:spcPts val="100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90" dirty="0" smtClean="0">
                <a:latin typeface="Tahoma"/>
                <a:cs typeface="Tahoma"/>
              </a:rPr>
              <a:t>Lack of real-time monitoring and accurate prediction.</a:t>
            </a:r>
            <a:endParaRPr lang="en-US" sz="2800" spc="90" dirty="0" smtClean="0">
              <a:latin typeface="Tahoma"/>
              <a:cs typeface="Tahoma"/>
            </a:endParaRPr>
          </a:p>
          <a:p>
            <a:pPr marL="241300" indent="-228600">
              <a:spcBef>
                <a:spcPts val="6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spc="-10" dirty="0" smtClean="0">
                <a:latin typeface="Tahoma"/>
                <a:cs typeface="Tahoma"/>
              </a:rPr>
              <a:t>No integrated system combining sensor data, weather data, and alerts.</a:t>
            </a:r>
          </a:p>
          <a:p>
            <a:pPr marL="241300" indent="-228600">
              <a:spcBef>
                <a:spcPts val="62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dirty="0" smtClean="0">
                <a:latin typeface="Tahoma"/>
                <a:cs typeface="Tahoma"/>
              </a:rPr>
              <a:t>Need for an intelligent, automated flood early warning system.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LITERATURE</a:t>
            </a:r>
            <a:r>
              <a:rPr spc="-705" dirty="0"/>
              <a:t> </a:t>
            </a:r>
            <a:r>
              <a:rPr spc="-42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329239"/>
              </p:ext>
            </p:extLst>
          </p:nvPr>
        </p:nvGraphicFramePr>
        <p:xfrm>
          <a:off x="710082" y="2120773"/>
          <a:ext cx="10605133" cy="45675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/>
                <a:gridCol w="2429510"/>
                <a:gridCol w="1464310"/>
                <a:gridCol w="2160270"/>
                <a:gridCol w="1548129"/>
                <a:gridCol w="1983739"/>
              </a:tblGrid>
              <a:tr h="933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SL.NO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51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86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ADVANTAGES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DISADVANTAGES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Tahoma"/>
                          <a:cs typeface="Tahoma"/>
                        </a:rPr>
                        <a:t>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Rainfall Threshold Approach for Flash Flood Early Warning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18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400" dirty="0" smtClean="0">
                          <a:latin typeface="Tahoma"/>
                          <a:cs typeface="Tahoma"/>
                        </a:rPr>
                        <a:t>D. T. Nguyen et al.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320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spc="-10" dirty="0" smtClean="0">
                          <a:latin typeface="Tahoma"/>
                          <a:cs typeface="Tahoma"/>
                        </a:rPr>
                        <a:t>Simple to implement; effective for localized flash flood alerts.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9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High false alarms; fails to consider land use and soil moisture conditions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  <a:tr h="11582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654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Physically Based Hydrological Modeling Using HEC-HMS for Flood Forecasting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19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>
                        <a:lnSpc>
                          <a:spcPct val="1000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A. Sharma and R. Patel</a:t>
                      </a: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470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400" dirty="0" smtClean="0">
                          <a:latin typeface="Tahoma"/>
                          <a:cs typeface="Tahoma"/>
                        </a:rPr>
                        <a:t>Provides accurate discharge prediction; supports real hydrological interpretation.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581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Requires extensive calibration; heavy computational load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9442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3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Flood Mapping Using Sentinel-1 SAR Data and GIS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202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0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da-DK" sz="1400" spc="-20" dirty="0" smtClean="0">
                          <a:latin typeface="Tahoma"/>
                          <a:cs typeface="Tahoma"/>
                        </a:rPr>
                        <a:t>L. D. Singh et al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70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spc="-10" dirty="0" smtClean="0">
                          <a:latin typeface="Tahoma"/>
                          <a:cs typeface="Tahoma"/>
                        </a:rPr>
                        <a:t>Provides large spatial coverage; effective under cloud conditions.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11454">
                        <a:lnSpc>
                          <a:spcPct val="100400"/>
                        </a:lnSpc>
                        <a:spcBef>
                          <a:spcPts val="270"/>
                        </a:spcBef>
                      </a:pPr>
                      <a:r>
                        <a:rPr lang="en-US" sz="1400" dirty="0" smtClean="0"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Complex preprocessing; limited real-time capability</a:t>
                      </a:r>
                      <a:endParaRPr sz="1400" dirty="0"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spc="-505" dirty="0"/>
              <a:t>LITERATURE</a:t>
            </a:r>
            <a:r>
              <a:rPr spc="-705" dirty="0"/>
              <a:t> </a:t>
            </a:r>
            <a:r>
              <a:rPr spc="-420" dirty="0"/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70025"/>
              </p:ext>
            </p:extLst>
          </p:nvPr>
        </p:nvGraphicFramePr>
        <p:xfrm>
          <a:off x="567207" y="2138679"/>
          <a:ext cx="11168379" cy="45548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9175"/>
                <a:gridCol w="2429510"/>
                <a:gridCol w="1464310"/>
                <a:gridCol w="2160270"/>
                <a:gridCol w="1891029"/>
                <a:gridCol w="2204085"/>
              </a:tblGrid>
              <a:tr h="9855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SL.NO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TITLE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0" dirty="0">
                          <a:latin typeface="Tahoma"/>
                          <a:cs typeface="Tahoma"/>
                        </a:rPr>
                        <a:t>YEAR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AUTHOR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Tahoma"/>
                          <a:cs typeface="Tahoma"/>
                        </a:rPr>
                        <a:t>DISADVANTAGES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10801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1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GIS-Based Flood Risk Assessment in Urban Catchments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202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0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H. Zhang and M. Kim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755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IN" sz="1400" spc="-10" dirty="0" smtClean="0">
                          <a:latin typeface="Tahoma"/>
                          <a:cs typeface="Tahoma"/>
                        </a:rPr>
                        <a:t>Identifies vulnerable zones visually; supports evacuation planning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81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Relies on static data; requires frequent GIS updates.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5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Machine Learning for Flood Prediction Using Random Forest Model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202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1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spc="-10" dirty="0" smtClean="0">
                          <a:latin typeface="Tahoma"/>
                          <a:cs typeface="Tahoma"/>
                        </a:rPr>
                        <a:t>S. </a:t>
                      </a:r>
                      <a:r>
                        <a:rPr lang="en-US" sz="1400" spc="-10" dirty="0" err="1" smtClean="0">
                          <a:latin typeface="Tahoma"/>
                          <a:cs typeface="Tahoma"/>
                        </a:rPr>
                        <a:t>Choubey</a:t>
                      </a:r>
                      <a:r>
                        <a:rPr lang="en-US" sz="1400" spc="-10" dirty="0" smtClean="0">
                          <a:latin typeface="Tahoma"/>
                          <a:cs typeface="Tahoma"/>
                        </a:rPr>
                        <a:t> and T. Bose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266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High prediction accuracy; handles multi-feature datasets,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400" spc="-25" dirty="0" smtClean="0">
                          <a:latin typeface="Tahoma"/>
                          <a:cs typeface="Tahoma"/>
                        </a:rPr>
                        <a:t>Needs large data volume; model prone to </a:t>
                      </a:r>
                      <a:r>
                        <a:rPr lang="en-IN" sz="1400" spc="-25" dirty="0" err="1" smtClean="0">
                          <a:latin typeface="Tahoma"/>
                          <a:cs typeface="Tahoma"/>
                        </a:rPr>
                        <a:t>overfitting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Tahoma"/>
                          <a:cs typeface="Tahoma"/>
                        </a:rPr>
                        <a:t>6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908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spc="50" dirty="0" smtClean="0">
                          <a:latin typeface="Tahoma"/>
                          <a:cs typeface="Tahoma"/>
                        </a:rPr>
                        <a:t>Deep Learning-Based LSTM Model for River Flood Forecasting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 smtClean="0">
                          <a:latin typeface="Tahoma"/>
                          <a:cs typeface="Tahoma"/>
                        </a:rPr>
                        <a:t>202</a:t>
                      </a:r>
                      <a:r>
                        <a:rPr lang="en-US" sz="1400" spc="-20" dirty="0" smtClean="0">
                          <a:latin typeface="Tahoma"/>
                          <a:cs typeface="Tahoma"/>
                        </a:rPr>
                        <a:t>1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400" dirty="0" smtClean="0">
                          <a:latin typeface="Tahoma"/>
                          <a:cs typeface="Tahoma"/>
                        </a:rPr>
                        <a:t>K. Lee et al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76884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1400" dirty="0" smtClean="0">
                          <a:latin typeface="Tahoma"/>
                          <a:cs typeface="Tahoma"/>
                        </a:rPr>
                        <a:t>Captures temporal rainfall trends effectively; suitable for sequence prediction.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987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400" dirty="0" smtClean="0">
                          <a:latin typeface="Tahoma"/>
                          <a:cs typeface="Tahoma"/>
                        </a:rPr>
                        <a:t>Requires significant training data and high-end GPU resources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606628"/>
            <a:ext cx="9144000" cy="1354217"/>
          </a:xfrm>
        </p:spPr>
        <p:txBody>
          <a:bodyPr/>
          <a:lstStyle/>
          <a:p>
            <a:r>
              <a:rPr lang="en-US" dirty="0" smtClean="0"/>
              <a:t>Existing System Overview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11887200" cy="4572000"/>
          </a:xfrm>
        </p:spPr>
        <p:txBody>
          <a:bodyPr/>
          <a:lstStyle/>
          <a:p>
            <a:r>
              <a:rPr lang="en-IN" b="1" dirty="0"/>
              <a:t>Traditional systems use</a:t>
            </a:r>
            <a:r>
              <a:rPr lang="en-IN" b="1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dirty="0"/>
              <a:t>Rainfall thresholds </a:t>
            </a:r>
            <a:endParaRPr lang="en-IN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IN" dirty="0" smtClean="0"/>
              <a:t>Manual monitoring</a:t>
            </a:r>
          </a:p>
          <a:p>
            <a:pPr marL="457200" indent="-457200">
              <a:buFont typeface="Arial" pitchFamily="34" charset="0"/>
              <a:buChar char="•"/>
            </a:pPr>
            <a:endParaRPr lang="en-IN" dirty="0" smtClean="0"/>
          </a:p>
          <a:p>
            <a:r>
              <a:rPr lang="en-IN" b="1" dirty="0"/>
              <a:t>Limitations</a:t>
            </a:r>
            <a:r>
              <a:rPr lang="en-IN" b="1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High false alarm </a:t>
            </a:r>
            <a:r>
              <a:rPr lang="en-US" dirty="0" smtClean="0"/>
              <a:t>rate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Delayed alerts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Lack </a:t>
            </a:r>
            <a:r>
              <a:rPr lang="en-US" dirty="0"/>
              <a:t>of real-time </a:t>
            </a:r>
            <a:r>
              <a:rPr lang="en-US" dirty="0" smtClean="0"/>
              <a:t>data integration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No </a:t>
            </a:r>
            <a:r>
              <a:rPr lang="en-US" dirty="0"/>
              <a:t>intelligent 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887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420" y="606628"/>
            <a:ext cx="7680580" cy="1354217"/>
          </a:xfrm>
        </p:spPr>
        <p:txBody>
          <a:bodyPr/>
          <a:lstStyle/>
          <a:p>
            <a:r>
              <a:rPr lang="en-US" dirty="0" smtClean="0"/>
              <a:t>PROPOSED SOLUTION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11887200" cy="5047536"/>
          </a:xfrm>
        </p:spPr>
        <p:txBody>
          <a:bodyPr/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800" dirty="0"/>
              <a:t>Integrates multi-source data (weather APIs, wildfire alerts, and geospatial services</a:t>
            </a:r>
            <a:r>
              <a:rPr lang="en-US" sz="2800" dirty="0" smtClean="0"/>
              <a:t>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800" dirty="0"/>
              <a:t>Generates a normalized flood risk score (0–100) based on weighted </a:t>
            </a:r>
            <a:r>
              <a:rPr lang="en-US" sz="2800" dirty="0" smtClean="0"/>
              <a:t>parameters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8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800" dirty="0"/>
              <a:t>Implements real-time alert streaming using Server-Sent Events (SSE</a:t>
            </a:r>
            <a:r>
              <a:rPr lang="en-US" sz="2800" dirty="0" smtClean="0"/>
              <a:t>).</a:t>
            </a:r>
          </a:p>
          <a:p>
            <a:endParaRPr lang="en-US" sz="2800" dirty="0" smtClean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800" dirty="0"/>
              <a:t>Built with a modular, scalable design to support future </a:t>
            </a:r>
            <a:r>
              <a:rPr lang="en-US" sz="2800" dirty="0" err="1"/>
              <a:t>IoT</a:t>
            </a:r>
            <a:r>
              <a:rPr lang="en-US" sz="2800" dirty="0"/>
              <a:t> and ML model extensions</a:t>
            </a:r>
            <a:r>
              <a:rPr lang="en-US" sz="2800" dirty="0" smtClean="0"/>
              <a:t>.</a:t>
            </a:r>
            <a:endParaRPr lang="en-IN" sz="28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IN" sz="2800" b="1" dirty="0"/>
              <a:t>Target users</a:t>
            </a:r>
            <a:r>
              <a:rPr lang="en-IN" sz="2800" dirty="0"/>
              <a:t>: Disaster Management </a:t>
            </a:r>
            <a:r>
              <a:rPr lang="en-IN" sz="2800" dirty="0" smtClean="0"/>
              <a:t>Authorities,</a:t>
            </a:r>
            <a:r>
              <a:rPr lang="en-US" sz="2800" dirty="0"/>
              <a:t> Municipal Corporations and Urban Planners, Local Communities and Citizens</a:t>
            </a:r>
            <a:endParaRPr lang="en-IN" sz="28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0582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6628"/>
            <a:ext cx="11811000" cy="1354217"/>
          </a:xfrm>
        </p:spPr>
        <p:txBody>
          <a:bodyPr/>
          <a:lstStyle/>
          <a:p>
            <a:r>
              <a:rPr lang="en-US" dirty="0"/>
              <a:t>Hardware and Software Requirements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828800"/>
            <a:ext cx="11887200" cy="5170646"/>
          </a:xfrm>
        </p:spPr>
        <p:txBody>
          <a:bodyPr/>
          <a:lstStyle/>
          <a:p>
            <a:r>
              <a:rPr lang="en-IN" sz="2800" b="1" dirty="0"/>
              <a:t>Hardware </a:t>
            </a:r>
            <a:r>
              <a:rPr lang="en-IN" sz="2800" b="1" dirty="0" smtClean="0"/>
              <a:t>Requirements: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err="1" smtClean="0"/>
              <a:t>Arduino</a:t>
            </a:r>
            <a:r>
              <a:rPr lang="en-IN" sz="2800" b="1" dirty="0" smtClean="0"/>
              <a:t> </a:t>
            </a:r>
            <a:r>
              <a:rPr lang="en-IN" sz="2800" dirty="0"/>
              <a:t>/ </a:t>
            </a:r>
            <a:r>
              <a:rPr lang="en-IN" sz="2800" dirty="0" smtClean="0"/>
              <a:t>ESP32 microcontroller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HC-SR04 </a:t>
            </a:r>
            <a:r>
              <a:rPr lang="en-IN" sz="2800" dirty="0"/>
              <a:t>Ultrasonic </a:t>
            </a:r>
            <a:r>
              <a:rPr lang="en-IN" sz="2800" dirty="0" smtClean="0"/>
              <a:t>Sensor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Power </a:t>
            </a:r>
            <a:r>
              <a:rPr lang="en-IN" sz="2800" dirty="0"/>
              <a:t>supply </a:t>
            </a:r>
            <a:r>
              <a:rPr lang="en-IN" sz="2800" dirty="0" smtClean="0"/>
              <a:t>system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smtClean="0"/>
              <a:t>Serial </a:t>
            </a:r>
            <a:r>
              <a:rPr lang="en-IN" sz="2800" dirty="0"/>
              <a:t>communication (USB</a:t>
            </a:r>
            <a:r>
              <a:rPr lang="en-IN" sz="2800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2800" dirty="0" smtClean="0"/>
          </a:p>
          <a:p>
            <a:r>
              <a:rPr lang="en-IN" sz="2800" b="1" dirty="0"/>
              <a:t>Software Requirements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Python (Flask framework)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/>
              <a:t>SQLite Database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err="1"/>
              <a:t>OpenWeatherMap</a:t>
            </a:r>
            <a:r>
              <a:rPr lang="en-IN" sz="2800" dirty="0"/>
              <a:t> API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IN" sz="2800" dirty="0" err="1"/>
              <a:t>Twilio</a:t>
            </a:r>
            <a:r>
              <a:rPr lang="en-IN" sz="2800" dirty="0"/>
              <a:t> API (SMS alerts)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732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457200"/>
            <a:ext cx="3870960" cy="1046797"/>
          </a:xfrm>
        </p:spPr>
        <p:txBody>
          <a:bodyPr>
            <a:normAutofit/>
          </a:bodyPr>
          <a:lstStyle/>
          <a:p>
            <a:r>
              <a:rPr lang="en-US" dirty="0">
                <a:latin typeface="Copperplate Gothic Bold" panose="020E0705020206020404" pitchFamily="34" charset="0"/>
              </a:rPr>
              <a:t>Modules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443198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dirty="0" smtClean="0"/>
              <a:t>Data </a:t>
            </a:r>
            <a:r>
              <a:rPr lang="en-US" b="1" dirty="0"/>
              <a:t>Acquisition </a:t>
            </a:r>
            <a:r>
              <a:rPr lang="en-US" b="1" dirty="0" smtClean="0"/>
              <a:t>Module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Collects </a:t>
            </a:r>
            <a:r>
              <a:rPr lang="en-US" dirty="0"/>
              <a:t>weather data (API</a:t>
            </a:r>
            <a:r>
              <a:rPr lang="en-US" dirty="0" smtClean="0"/>
              <a:t>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Reads </a:t>
            </a:r>
            <a:r>
              <a:rPr lang="en-US" dirty="0"/>
              <a:t>sensor data (water level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b="1" dirty="0" smtClean="0"/>
              <a:t>2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b="1" dirty="0"/>
              <a:t>Risk Calculation </a:t>
            </a:r>
            <a:r>
              <a:rPr lang="en-US" b="1" dirty="0" smtClean="0"/>
              <a:t>Module</a:t>
            </a:r>
          </a:p>
          <a:p>
            <a:r>
              <a:rPr lang="en-US" dirty="0" smtClean="0"/>
              <a:t>Calculates </a:t>
            </a:r>
            <a:r>
              <a:rPr lang="en-US" dirty="0"/>
              <a:t>flood risk using</a:t>
            </a:r>
            <a:r>
              <a:rPr lang="en-US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70</a:t>
            </a:r>
            <a:r>
              <a:rPr lang="en-US" dirty="0"/>
              <a:t>% water </a:t>
            </a:r>
            <a:r>
              <a:rPr lang="en-US" dirty="0" smtClean="0"/>
              <a:t>level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20</a:t>
            </a:r>
            <a:r>
              <a:rPr lang="en-US" dirty="0"/>
              <a:t>% cloud </a:t>
            </a:r>
            <a:r>
              <a:rPr lang="en-US" dirty="0" smtClean="0"/>
              <a:t>factor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dirty="0" smtClean="0"/>
              <a:t>10</a:t>
            </a:r>
            <a:r>
              <a:rPr lang="en-US" dirty="0"/>
              <a:t>% wind factor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6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0" y="457200"/>
            <a:ext cx="3870960" cy="1046797"/>
          </a:xfrm>
        </p:spPr>
        <p:txBody>
          <a:bodyPr>
            <a:normAutofit/>
          </a:bodyPr>
          <a:lstStyle/>
          <a:p>
            <a:r>
              <a:rPr lang="en-US" dirty="0">
                <a:latin typeface="Copperplate Gothic Bold" panose="020E0705020206020404" pitchFamily="34" charset="0"/>
              </a:rPr>
              <a:t>Modules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4924425"/>
          </a:xfrm>
        </p:spPr>
        <p:txBody>
          <a:bodyPr/>
          <a:lstStyle/>
          <a:p>
            <a:r>
              <a:rPr lang="en-US" b="1" dirty="0" smtClean="0"/>
              <a:t>3. Alert Module</a:t>
            </a:r>
          </a:p>
          <a:p>
            <a:pPr marL="514350" indent="-514350">
              <a:buFont typeface="Arial" pitchFamily="34" charset="0"/>
              <a:buChar char="•"/>
            </a:pPr>
            <a:r>
              <a:rPr lang="en-US" dirty="0"/>
              <a:t>Sends SMS alerts using </a:t>
            </a:r>
            <a:r>
              <a:rPr lang="en-US" dirty="0" err="1" smtClean="0"/>
              <a:t>Twilio</a:t>
            </a:r>
            <a:endParaRPr lang="en-US" dirty="0" smtClean="0"/>
          </a:p>
          <a:p>
            <a:pPr marL="514350" indent="-514350">
              <a:buFont typeface="Arial" pitchFamily="34" charset="0"/>
              <a:buChar char="•"/>
            </a:pPr>
            <a:r>
              <a:rPr lang="en-US" dirty="0"/>
              <a:t>Triggered when threshold </a:t>
            </a:r>
            <a:r>
              <a:rPr lang="en-US" dirty="0" smtClean="0"/>
              <a:t>exceeded</a:t>
            </a:r>
          </a:p>
          <a:p>
            <a:endParaRPr lang="en-US" dirty="0"/>
          </a:p>
          <a:p>
            <a:r>
              <a:rPr lang="en-US" b="1" dirty="0"/>
              <a:t>4. Prediction Module</a:t>
            </a: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Uses regression to predict future water </a:t>
            </a:r>
            <a:r>
              <a:rPr lang="en-US" dirty="0" smtClean="0"/>
              <a:t>levels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  <a:p>
            <a:r>
              <a:rPr lang="en-US" b="1" dirty="0"/>
              <a:t>5. Visualization Module</a:t>
            </a:r>
            <a:endParaRPr lang="en-US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dirty="0"/>
              <a:t>Dashboard + </a:t>
            </a:r>
            <a:r>
              <a:rPr lang="en-US" dirty="0" err="1"/>
              <a:t>heatmap</a:t>
            </a:r>
            <a:r>
              <a:rPr lang="en-US" dirty="0"/>
              <a:t> display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5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033" y="681304"/>
            <a:ext cx="9378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270" dirty="0"/>
              <a:t>Overall Architecture</a:t>
            </a:r>
            <a:endParaRPr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76400"/>
            <a:ext cx="10287000" cy="518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457200"/>
            <a:ext cx="937895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 spc="-270" dirty="0"/>
              <a:t>Flow Diagram, ER Diagram, and UML Diagrams</a:t>
            </a:r>
            <a:endParaRPr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600200"/>
            <a:ext cx="9365343" cy="52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904999"/>
            <a:ext cx="10287000" cy="377090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System </a:t>
            </a:r>
            <a:r>
              <a:rPr lang="en-US" sz="2800" dirty="0" smtClean="0">
                <a:latin typeface="Arial Black"/>
                <a:cs typeface="Arial Black"/>
              </a:rPr>
              <a:t>response</a:t>
            </a:r>
            <a:r>
              <a:rPr lang="en-US" sz="2800" b="1" dirty="0" smtClean="0">
                <a:latin typeface="Arial Black"/>
                <a:cs typeface="Arial Black"/>
              </a:rPr>
              <a:t> time: ~2.1 seconds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Real-time alerts using streaming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Accurate integration of multiple data sources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Prediction Accuracy: 87%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Early alerts: 4.5 hours earlier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False alarm reduced by 18%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Rainfall contributes highest risk (~52%)</a:t>
            </a: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lang="en-US" sz="2800" b="1" dirty="0" smtClean="0">
                <a:latin typeface="Arial Black"/>
                <a:cs typeface="Arial Black"/>
              </a:rPr>
              <a:t>Wildfire data improves accuracy by 12%</a:t>
            </a:r>
            <a:endParaRPr sz="2800" b="1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65759"/>
            <a:ext cx="12192000" cy="1324610"/>
          </a:xfrm>
          <a:custGeom>
            <a:avLst/>
            <a:gdLst/>
            <a:ahLst/>
            <a:cxnLst/>
            <a:rect l="l" t="t" r="r" b="b"/>
            <a:pathLst>
              <a:path w="12192000" h="1324610">
                <a:moveTo>
                  <a:pt x="12192000" y="0"/>
                </a:moveTo>
                <a:lnTo>
                  <a:pt x="0" y="0"/>
                </a:lnTo>
                <a:lnTo>
                  <a:pt x="0" y="1324356"/>
                </a:lnTo>
                <a:lnTo>
                  <a:pt x="12192000" y="1324356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62630" y="681304"/>
            <a:ext cx="60337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600" spc="-360" dirty="0"/>
              <a:t>Results &amp; Discussion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9296400" cy="104679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Copperplate Gothic Bold" panose="020E0705020206020404" pitchFamily="34" charset="0"/>
              </a:rPr>
              <a:t>Conclusion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3447098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Developed intelligent flood monitoring </a:t>
            </a:r>
            <a:r>
              <a:rPr lang="en-US" dirty="0" smtClean="0"/>
              <a:t>system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Combines </a:t>
            </a:r>
            <a:r>
              <a:rPr lang="en-US" dirty="0" err="1"/>
              <a:t>IoT</a:t>
            </a:r>
            <a:r>
              <a:rPr lang="en-US" dirty="0"/>
              <a:t>, AI, and real-time </a:t>
            </a:r>
            <a:r>
              <a:rPr lang="en-US" dirty="0" smtClean="0"/>
              <a:t>data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Provides early warning and accurate prediction 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Helps reduce disaster impact </a:t>
            </a:r>
          </a:p>
          <a:p>
            <a:pPr marL="457200" indent="-45720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01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9296400" cy="1046797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Copperplate Gothic Bold" panose="020E0705020206020404" pitchFamily="34" charset="0"/>
              </a:rPr>
              <a:t>Future </a:t>
            </a:r>
            <a:r>
              <a:rPr lang="en-US" dirty="0">
                <a:latin typeface="Copperplate Gothic Bold" panose="020E0705020206020404" pitchFamily="34" charset="0"/>
              </a:rPr>
              <a:t>Enhancements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295465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Integration with </a:t>
            </a:r>
            <a:r>
              <a:rPr lang="en-US" dirty="0" err="1"/>
              <a:t>IoT</a:t>
            </a:r>
            <a:r>
              <a:rPr lang="en-US" dirty="0"/>
              <a:t> sensors (river/dam level</a:t>
            </a:r>
            <a:r>
              <a:rPr lang="en-US" dirty="0" smtClean="0"/>
              <a:t>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Advanced </a:t>
            </a:r>
            <a:r>
              <a:rPr lang="en-US" dirty="0"/>
              <a:t>ML models (LSTM, Deep Learning</a:t>
            </a:r>
            <a:r>
              <a:rPr lang="en-US" dirty="0" smtClean="0"/>
              <a:t>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Mobile </a:t>
            </a:r>
            <a:r>
              <a:rPr lang="en-US" dirty="0"/>
              <a:t>application </a:t>
            </a:r>
            <a:r>
              <a:rPr lang="en-US" dirty="0" smtClean="0"/>
              <a:t>development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Government </a:t>
            </a:r>
            <a:r>
              <a:rPr lang="en-US" dirty="0"/>
              <a:t>disaster system integration</a:t>
            </a:r>
          </a:p>
        </p:txBody>
      </p:sp>
    </p:spTree>
    <p:extLst>
      <p:ext uri="{BB962C8B-B14F-4D97-AF65-F5344CB8AC3E}">
        <p14:creationId xmlns:p14="http://schemas.microsoft.com/office/powerpoint/2010/main" val="128507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9296400" cy="104679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opperplate Gothic Bold" panose="020E0705020206020404" pitchFamily="34" charset="0"/>
              </a:rPr>
              <a:t>References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285424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AI-based flood forecasting models – </a:t>
            </a:r>
            <a:r>
              <a:rPr lang="en-US" dirty="0" smtClean="0"/>
              <a:t>IEEE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/>
              <a:t>IoT</a:t>
            </a:r>
            <a:r>
              <a:rPr lang="en-US" dirty="0" smtClean="0"/>
              <a:t>-enabled </a:t>
            </a:r>
            <a:r>
              <a:rPr lang="en-US" dirty="0"/>
              <a:t>flood monitoring systems – </a:t>
            </a:r>
            <a:r>
              <a:rPr lang="en-US" dirty="0" smtClean="0"/>
              <a:t>IEEE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Satellite </a:t>
            </a:r>
            <a:r>
              <a:rPr lang="en-US" dirty="0"/>
              <a:t>data in flood prediction – </a:t>
            </a:r>
            <a:r>
              <a:rPr lang="en-US" dirty="0" smtClean="0"/>
              <a:t>IEEE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Machine </a:t>
            </a:r>
            <a:r>
              <a:rPr lang="en-US" dirty="0"/>
              <a:t>learning in flood forecasting – IEEE</a:t>
            </a:r>
          </a:p>
        </p:txBody>
      </p:sp>
    </p:spTree>
    <p:extLst>
      <p:ext uri="{BB962C8B-B14F-4D97-AF65-F5344CB8AC3E}">
        <p14:creationId xmlns:p14="http://schemas.microsoft.com/office/powerpoint/2010/main" val="338937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B4324F-8CB6-0C34-E411-15C4CB26D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9296400" cy="104679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opperplate Gothic Bold" panose="020E0705020206020404" pitchFamily="34" charset="0"/>
              </a:rPr>
              <a:t>Publications</a:t>
            </a:r>
            <a:endParaRPr lang="en-US" dirty="0">
              <a:latin typeface="Copperplate Gothic Bold" panose="020E07050202060204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E5EC40-1E15-9E64-44D6-E76D58DA8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81200"/>
            <a:ext cx="11658600" cy="369331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/>
              <a:t>Submitted</a:t>
            </a:r>
            <a:endParaRPr lang="en-US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Papers submitted to conferences for review</a:t>
            </a:r>
            <a:r>
              <a:rPr lang="en-US" dirty="0" smtClean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Accepted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/>
              <a:t>Accepted in IEEE ICECIT 2026 (Hyderabad, India)</a:t>
            </a:r>
          </a:p>
        </p:txBody>
      </p:sp>
    </p:spTree>
    <p:extLst>
      <p:ext uri="{BB962C8B-B14F-4D97-AF65-F5344CB8AC3E}">
        <p14:creationId xmlns:p14="http://schemas.microsoft.com/office/powerpoint/2010/main" val="237721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0129" y="1018159"/>
            <a:ext cx="7328534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3195" marR="5080" indent="-1421130">
              <a:lnSpc>
                <a:spcPct val="100000"/>
              </a:lnSpc>
              <a:spcBef>
                <a:spcPts val="100"/>
              </a:spcBef>
            </a:pPr>
            <a:r>
              <a:rPr sz="15000" b="1" spc="-365" dirty="0">
                <a:solidFill>
                  <a:srgbClr val="000000"/>
                </a:solidFill>
                <a:latin typeface="Verdana"/>
                <a:cs typeface="Verdana"/>
              </a:rPr>
              <a:t>THANK </a:t>
            </a:r>
            <a:r>
              <a:rPr sz="15000" b="1" spc="-385" dirty="0">
                <a:solidFill>
                  <a:srgbClr val="000000"/>
                </a:solidFill>
                <a:latin typeface="Verdana"/>
                <a:cs typeface="Verdana"/>
              </a:rPr>
              <a:t>YOU</a:t>
            </a:r>
            <a:endParaRPr sz="15000">
              <a:latin typeface="Verdana"/>
              <a:cs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711</Words>
  <Application>Microsoft Office PowerPoint</Application>
  <PresentationFormat>Custom</PresentationFormat>
  <Paragraphs>147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CAPSTONE  FINAL  REVIEW </vt:lpstr>
      <vt:lpstr>TEAM MEMBERS</vt:lpstr>
      <vt:lpstr>PROBLEM STATEMENT</vt:lpstr>
      <vt:lpstr>LITERATURE SURVEY</vt:lpstr>
      <vt:lpstr>LITERATURE SURVEY</vt:lpstr>
      <vt:lpstr>Existing System Overview</vt:lpstr>
      <vt:lpstr>PROPOSED SOLUTION</vt:lpstr>
      <vt:lpstr>Hardware and Software Requirements</vt:lpstr>
      <vt:lpstr>Modules</vt:lpstr>
      <vt:lpstr>Modules</vt:lpstr>
      <vt:lpstr>Overall Architecture</vt:lpstr>
      <vt:lpstr>Flow Diagram, ER Diagram, and UML Diagrams</vt:lpstr>
      <vt:lpstr>Results &amp; Discussion</vt:lpstr>
      <vt:lpstr>Conclusion</vt:lpstr>
      <vt:lpstr>Future Enhancements</vt:lpstr>
      <vt:lpstr>References</vt:lpstr>
      <vt:lpstr>Publications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jazz</dc:creator>
  <cp:lastModifiedBy>Hp</cp:lastModifiedBy>
  <cp:revision>21</cp:revision>
  <dcterms:created xsi:type="dcterms:W3CDTF">2025-09-08T04:32:48Z</dcterms:created>
  <dcterms:modified xsi:type="dcterms:W3CDTF">2026-04-07T19:23:41Z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2025-09-07T00:00:00Z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2025-09-08T00:00:00Z</vt:filetime>
  </property>
  <property fmtid="{D5CDD505-2E9C-101B-9397-08002B2CF9AE}" pid="5" name="Producer">
    <vt:lpwstr>Microsoft® PowerPoint® 2013</vt:lpwstr>
  </property>
</Properties>
</file>